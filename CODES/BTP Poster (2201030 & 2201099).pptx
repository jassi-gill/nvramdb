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E410E5-E327-4FE2-9CEE-6EB891CC2062}" v="30" dt="2025-04-15T06:56:23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48442-9B58-413A-B904-1C41455DBC19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BC1DF-9E2F-4E9C-B965-1A632D4C3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260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78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28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90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1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32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37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88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165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181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83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EDDA0-7DA0-4E06-B012-0EDA605D326A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FD5B-96EA-4246-BB28-7C2D0840A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04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1604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34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 and Implementation of a Relational Database using RAM and Non-Volatile Memory</a:t>
            </a:r>
          </a:p>
          <a:p>
            <a:r>
              <a:rPr lang="en-IN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Anushka Srivastava (2201030) &amp; </a:t>
            </a:r>
            <a:r>
              <a:rPr lang="en-IN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Jaswindar</a:t>
            </a:r>
            <a:r>
              <a:rPr lang="en-IN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Singh Gill (2201099)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404" y="0"/>
            <a:ext cx="631596" cy="631596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Indian Institute of Information Technology Guwahati</a:t>
            </a:r>
            <a:endParaRPr lang="en-IN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10"/>
          <p:cNvSpPr txBox="1">
            <a:spLocks noChangeAspect="1"/>
          </p:cNvSpPr>
          <p:nvPr/>
        </p:nvSpPr>
        <p:spPr>
          <a:xfrm>
            <a:off x="84842" y="631596"/>
            <a:ext cx="3638072" cy="5861279"/>
          </a:xfrm>
          <a:prstGeom prst="rect">
            <a:avLst/>
          </a:prstGeom>
          <a:noFill/>
          <a:ln>
            <a:solidFill>
              <a:srgbClr val="003466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IN" sz="1400" b="1" dirty="0">
                <a:solidFill>
                  <a:srgbClr val="0034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Abstract</a:t>
            </a:r>
          </a:p>
          <a:p>
            <a:r>
              <a:rPr lang="en-IN" sz="1400" dirty="0"/>
              <a:t>NVRAM-optimized database leveraging byte-addressability and persistence characteristics. </a:t>
            </a:r>
            <a:r>
              <a:rPr lang="en-IN" sz="1400" b="1" dirty="0"/>
              <a:t>Hybrid memory architecture</a:t>
            </a:r>
            <a:r>
              <a:rPr lang="en-IN" sz="1400" dirty="0"/>
              <a:t>: index </a:t>
            </a:r>
            <a:r>
              <a:rPr lang="en-US" sz="1400" dirty="0"/>
              <a:t>while ensuring ACID transaction </a:t>
            </a:r>
            <a:r>
              <a:rPr lang="en-IN" sz="1400" dirty="0"/>
              <a:t>structures in volatile RAM, data in NVRAM. Eliminates I/O bottlenecks, reduces complexity while ensuring data durability without traditional buffer management.</a:t>
            </a:r>
            <a:endParaRPr 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IN" sz="1400" b="1" dirty="0">
                <a:solidFill>
                  <a:srgbClr val="0034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Research Question</a:t>
            </a:r>
          </a:p>
          <a:p>
            <a:r>
              <a:rPr lang="en-US" sz="1400" dirty="0"/>
              <a:t>To develop a high-performance relational database system that exploits NVRAM characteristics to enhance throughput and durability while maintaining ACID properties.</a:t>
            </a:r>
          </a:p>
          <a:p>
            <a:r>
              <a:rPr lang="en-IN" sz="1400" b="1" dirty="0">
                <a:solidFill>
                  <a:srgbClr val="0034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pPr>
              <a:buNone/>
            </a:pPr>
            <a:r>
              <a:rPr lang="en-US" sz="1400" dirty="0"/>
              <a:t>We developed an NVRAM-optimized database with these key components: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Hybrid architecture: RAM (indexes) + NVRAM (data)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Custom free space manager (linked-list based) for byte-addressable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B+ tree with direct NVRAM pointers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Optimized WAL using Intel persistence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Multi-granular lock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Device DAX namespace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Innovation</a:t>
            </a:r>
            <a:r>
              <a:rPr lang="en-IN" sz="1400" dirty="0"/>
              <a:t>: WAL stores pointers not data blocks, uniquely possible with byte-addressability.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endParaRPr lang="en-IN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11"/>
          <p:cNvSpPr txBox="1">
            <a:spLocks noChangeAspect="1"/>
          </p:cNvSpPr>
          <p:nvPr/>
        </p:nvSpPr>
        <p:spPr>
          <a:xfrm>
            <a:off x="3799115" y="685800"/>
            <a:ext cx="3889828" cy="5807075"/>
          </a:xfrm>
          <a:prstGeom prst="rect">
            <a:avLst/>
          </a:prstGeom>
          <a:noFill/>
          <a:ln>
            <a:solidFill>
              <a:srgbClr val="003466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IN" sz="1600" b="1" dirty="0"/>
              <a:t>Overview of Data Structures Used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13" name="TextBox 12"/>
          <p:cNvSpPr txBox="1">
            <a:spLocks noChangeAspect="1"/>
          </p:cNvSpPr>
          <p:nvPr/>
        </p:nvSpPr>
        <p:spPr>
          <a:xfrm>
            <a:off x="7804782" y="685800"/>
            <a:ext cx="4139090" cy="5807075"/>
          </a:xfrm>
          <a:prstGeom prst="rect">
            <a:avLst/>
          </a:prstGeom>
          <a:noFill/>
          <a:ln>
            <a:solidFill>
              <a:srgbClr val="003466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sz="1400" b="1" dirty="0">
                <a:solidFill>
                  <a:srgbClr val="0034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</a:p>
          <a:p>
            <a:r>
              <a:rPr lang="en-US" sz="1400" b="1" i="0" dirty="0">
                <a:solidFill>
                  <a:schemeClr val="tx1"/>
                </a:solidFill>
                <a:effectLst/>
              </a:rPr>
              <a:t>Our NVRAM-optimized database consistently outperforms Redis across all YCSB workloads:</a:t>
            </a:r>
          </a:p>
          <a:p>
            <a:endParaRPr lang="en-IN" sz="1400" dirty="0"/>
          </a:p>
          <a:p>
            <a:r>
              <a:rPr lang="en-IN" sz="1400" b="1" dirty="0"/>
              <a:t>Throughput Comparison (operations/second):</a:t>
            </a:r>
          </a:p>
          <a:p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IN" sz="1600" b="1" dirty="0">
              <a:solidFill>
                <a:srgbClr val="003466"/>
              </a:solidFill>
            </a:endParaRPr>
          </a:p>
          <a:p>
            <a:endParaRPr lang="en-IN" sz="1600" b="1" dirty="0">
              <a:solidFill>
                <a:srgbClr val="003466"/>
              </a:solidFill>
            </a:endParaRPr>
          </a:p>
          <a:p>
            <a:endParaRPr lang="en-IN" sz="1600" b="1" dirty="0">
              <a:solidFill>
                <a:srgbClr val="003466"/>
              </a:solidFill>
            </a:endParaRPr>
          </a:p>
          <a:p>
            <a:r>
              <a:rPr lang="en-IN" sz="1600" b="1" dirty="0">
                <a:solidFill>
                  <a:srgbClr val="003466"/>
                </a:solidFill>
              </a:rPr>
              <a:t>Conclusion</a:t>
            </a:r>
          </a:p>
          <a:p>
            <a:r>
              <a:rPr lang="en-US" sz="1400" b="0" i="0" dirty="0">
                <a:solidFill>
                  <a:schemeClr val="tx1"/>
                </a:solidFill>
                <a:effectLst/>
              </a:rPr>
              <a:t>Key Insights on Performance: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i="0" dirty="0">
                <a:solidFill>
                  <a:schemeClr val="tx1"/>
                </a:solidFill>
                <a:effectLst/>
              </a:rPr>
              <a:t>Direct Pointer Access: Eliminating serialization provides substantial performance gains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i="0" dirty="0">
                <a:solidFill>
                  <a:schemeClr val="tx1"/>
                </a:solidFill>
                <a:effectLst/>
              </a:rPr>
              <a:t>Pointer-Based WAL: Logging pointers instead of data blocks reduces write amplification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i="0" dirty="0">
                <a:solidFill>
                  <a:schemeClr val="tx1"/>
                </a:solidFill>
                <a:effectLst/>
              </a:rPr>
              <a:t>Optimal Read Performance: Greatest advantage (3.21×) observed in read-only scenarios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i="0" dirty="0">
                <a:solidFill>
                  <a:schemeClr val="tx1"/>
                </a:solidFill>
                <a:effectLst/>
              </a:rPr>
              <a:t>Efficient Memory Management: Custom free space manager dramatically reduces overhead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  <a:cs typeface="Helvetica" panose="020B0604020202020204" pitchFamily="34" charset="0"/>
            </a:endParaRPr>
          </a:p>
          <a:p>
            <a:endParaRPr lang="en-IN" sz="15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9302F-C57B-B897-F7DE-B7E7AF679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303" y="1033562"/>
            <a:ext cx="3865538" cy="2782955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D395912-247F-3804-027E-D114F170F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315644"/>
              </p:ext>
            </p:extLst>
          </p:nvPr>
        </p:nvGraphicFramePr>
        <p:xfrm>
          <a:off x="7847809" y="1864846"/>
          <a:ext cx="4053036" cy="22418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3259">
                  <a:extLst>
                    <a:ext uri="{9D8B030D-6E8A-4147-A177-3AD203B41FA5}">
                      <a16:colId xmlns:a16="http://schemas.microsoft.com/office/drawing/2014/main" val="1257615315"/>
                    </a:ext>
                  </a:extLst>
                </a:gridCol>
                <a:gridCol w="1013259">
                  <a:extLst>
                    <a:ext uri="{9D8B030D-6E8A-4147-A177-3AD203B41FA5}">
                      <a16:colId xmlns:a16="http://schemas.microsoft.com/office/drawing/2014/main" val="3530460307"/>
                    </a:ext>
                  </a:extLst>
                </a:gridCol>
                <a:gridCol w="1013259">
                  <a:extLst>
                    <a:ext uri="{9D8B030D-6E8A-4147-A177-3AD203B41FA5}">
                      <a16:colId xmlns:a16="http://schemas.microsoft.com/office/drawing/2014/main" val="2521251732"/>
                    </a:ext>
                  </a:extLst>
                </a:gridCol>
                <a:gridCol w="1013259">
                  <a:extLst>
                    <a:ext uri="{9D8B030D-6E8A-4147-A177-3AD203B41FA5}">
                      <a16:colId xmlns:a16="http://schemas.microsoft.com/office/drawing/2014/main" val="4174217863"/>
                    </a:ext>
                  </a:extLst>
                </a:gridCol>
              </a:tblGrid>
              <a:tr h="320830">
                <a:tc>
                  <a:txBody>
                    <a:bodyPr/>
                    <a:lstStyle/>
                    <a:p>
                      <a:r>
                        <a:rPr lang="en-IN" sz="900" dirty="0"/>
                        <a:t>Workload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NVRAM-DB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Redis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04688"/>
                  </a:ext>
                </a:extLst>
              </a:tr>
              <a:tr h="320830">
                <a:tc>
                  <a:txBody>
                    <a:bodyPr/>
                    <a:lstStyle/>
                    <a:p>
                      <a:r>
                        <a:rPr lang="en-IN" sz="900"/>
                        <a:t>Load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11,494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9,009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/>
                        <a:t>1.28×</a:t>
                      </a:r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62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/>
                        <a:t>Workload A (50% read/50% update)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29,412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12,658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/>
                        <a:t>2.32×</a:t>
                      </a:r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54767"/>
                  </a:ext>
                </a:extLst>
              </a:tr>
              <a:tr h="320830">
                <a:tc>
                  <a:txBody>
                    <a:bodyPr/>
                    <a:lstStyle/>
                    <a:p>
                      <a:r>
                        <a:rPr lang="en-US" sz="900" dirty="0"/>
                        <a:t>Workload B (95% read/5% update)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32,258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11,628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/>
                        <a:t>2.77×</a:t>
                      </a:r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968029"/>
                  </a:ext>
                </a:extLst>
              </a:tr>
              <a:tr h="320830">
                <a:tc>
                  <a:txBody>
                    <a:bodyPr/>
                    <a:lstStyle/>
                    <a:p>
                      <a:r>
                        <a:rPr lang="en-IN" sz="900"/>
                        <a:t>Workload C (100% read)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35,714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11,111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/>
                        <a:t>3.21×</a:t>
                      </a:r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206435"/>
                  </a:ext>
                </a:extLst>
              </a:tr>
              <a:tr h="320830">
                <a:tc>
                  <a:txBody>
                    <a:bodyPr/>
                    <a:lstStyle/>
                    <a:p>
                      <a:r>
                        <a:rPr lang="en-US" sz="900" dirty="0"/>
                        <a:t>Workload D (95% read/5% insert)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31,250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11,905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 dirty="0"/>
                        <a:t>2.62×</a:t>
                      </a:r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93631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54B4834-F2C1-58D9-FBB9-0F6B62C752AE}"/>
              </a:ext>
            </a:extLst>
          </p:cNvPr>
          <p:cNvSpPr txBox="1"/>
          <p:nvPr/>
        </p:nvSpPr>
        <p:spPr>
          <a:xfrm>
            <a:off x="3799115" y="3870721"/>
            <a:ext cx="38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Latency Comparison (microseconds)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59956BC-442D-D169-010A-E12F47682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32675"/>
              </p:ext>
            </p:extLst>
          </p:nvPr>
        </p:nvGraphicFramePr>
        <p:xfrm>
          <a:off x="3823403" y="4197137"/>
          <a:ext cx="3865540" cy="200554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66385">
                  <a:extLst>
                    <a:ext uri="{9D8B030D-6E8A-4147-A177-3AD203B41FA5}">
                      <a16:colId xmlns:a16="http://schemas.microsoft.com/office/drawing/2014/main" val="1257615315"/>
                    </a:ext>
                  </a:extLst>
                </a:gridCol>
                <a:gridCol w="966385">
                  <a:extLst>
                    <a:ext uri="{9D8B030D-6E8A-4147-A177-3AD203B41FA5}">
                      <a16:colId xmlns:a16="http://schemas.microsoft.com/office/drawing/2014/main" val="3530460307"/>
                    </a:ext>
                  </a:extLst>
                </a:gridCol>
                <a:gridCol w="966385">
                  <a:extLst>
                    <a:ext uri="{9D8B030D-6E8A-4147-A177-3AD203B41FA5}">
                      <a16:colId xmlns:a16="http://schemas.microsoft.com/office/drawing/2014/main" val="2521251732"/>
                    </a:ext>
                  </a:extLst>
                </a:gridCol>
                <a:gridCol w="966385">
                  <a:extLst>
                    <a:ext uri="{9D8B030D-6E8A-4147-A177-3AD203B41FA5}">
                      <a16:colId xmlns:a16="http://schemas.microsoft.com/office/drawing/2014/main" val="4174217863"/>
                    </a:ext>
                  </a:extLst>
                </a:gridCol>
              </a:tblGrid>
              <a:tr h="256009">
                <a:tc>
                  <a:txBody>
                    <a:bodyPr/>
                    <a:lstStyle/>
                    <a:p>
                      <a:r>
                        <a:rPr lang="en-IN" sz="900" dirty="0"/>
                        <a:t>Operation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NVRAM-DB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Redis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622359"/>
                  </a:ext>
                </a:extLst>
              </a:tr>
              <a:tr h="368324">
                <a:tc>
                  <a:txBody>
                    <a:bodyPr/>
                    <a:lstStyle/>
                    <a:p>
                      <a:r>
                        <a:rPr lang="en-IN" sz="900" dirty="0"/>
                        <a:t>Read Operations (Workload 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46.99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168.79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 dirty="0"/>
                        <a:t>3.6×</a:t>
                      </a:r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036115"/>
                  </a:ext>
                </a:extLst>
              </a:tr>
              <a:tr h="506446">
                <a:tc>
                  <a:txBody>
                    <a:bodyPr/>
                    <a:lstStyle/>
                    <a:p>
                      <a:r>
                        <a:rPr lang="en-IN" sz="900"/>
                        <a:t>Update Operations (Workload 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79.93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110.89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/>
                        <a:t>1.4×</a:t>
                      </a:r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968029"/>
                  </a:ext>
                </a:extLst>
              </a:tr>
              <a:tr h="506446">
                <a:tc>
                  <a:txBody>
                    <a:bodyPr/>
                    <a:lstStyle/>
                    <a:p>
                      <a:r>
                        <a:rPr lang="en-IN" sz="900"/>
                        <a:t>Insert Operations (Workload 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218.67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428.09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/>
                        <a:t>2.0×</a:t>
                      </a:r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206435"/>
                  </a:ext>
                </a:extLst>
              </a:tr>
              <a:tr h="368324">
                <a:tc>
                  <a:txBody>
                    <a:bodyPr/>
                    <a:lstStyle/>
                    <a:p>
                      <a:r>
                        <a:rPr lang="en-IN" sz="900"/>
                        <a:t>Cleanup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1.5-4.0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234-720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900" b="1" dirty="0"/>
                        <a:t>58-180×</a:t>
                      </a:r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936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26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355</Words>
  <Application>Microsoft Office PowerPoint</Application>
  <PresentationFormat>Widescreen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Kaustuv Nag</dc:creator>
  <cp:lastModifiedBy>Anushka Srivastava</cp:lastModifiedBy>
  <cp:revision>14</cp:revision>
  <dcterms:created xsi:type="dcterms:W3CDTF">2025-03-19T05:36:37Z</dcterms:created>
  <dcterms:modified xsi:type="dcterms:W3CDTF">2025-04-15T07:10:41Z</dcterms:modified>
</cp:coreProperties>
</file>